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afternoon. We are Team 20 — Qiurong Chen and Yanchen Yu. This presentation reports our work for CITS4404 Deliverable 2: optimising a Bitcoin trading bot with four algorithms.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9EF5"/>
          </a:solidFill>
          <a:ln w="12700">
            <a:solidFill>
              <a:srgbClr val="3B9E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548640"/>
            <a:ext cx="2560320" cy="2560320"/>
          </a:xfrm>
          <a:prstGeom prst="ellipse">
            <a:avLst/>
          </a:prstGeom>
          <a:solidFill>
            <a:srgbClr val="0D3B6E">
              <a:alpha val="50000"/>
            </a:srgbClr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1828800" cy="1828800"/>
          </a:xfrm>
          <a:prstGeom prst="ellipse">
            <a:avLst/>
          </a:prstGeom>
          <a:solidFill>
            <a:srgbClr val="0D3B6E">
              <a:alpha val="40000"/>
            </a:srgbClr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011680" cy="274320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CITS4404  ·  Team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Optimising AI Bitcoin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Bots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9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 ·  GWO  ·  HHO  ·  Random Search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Qiurong Chen (24558583)  ·  Yanchen Yu (24256987)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Deliverable 2  ·  CITS4404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Nature-Inspired Algorithms for Trading?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182880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9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of digital-asset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trading is algorithmic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234440"/>
            <a:ext cx="5577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Research question:
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Can a nature-inspired optimiser find WMA parameters that yield a profitable BTC bot — and do optimisers differ in any meaningful way?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2651760" cy="1508760"/>
          </a:xfrm>
          <a:prstGeom prst="rect">
            <a:avLst/>
          </a:prstGeom>
          <a:solidFill>
            <a:srgbClr val="162640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246120"/>
            <a:ext cx="26517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246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9EF5"/>
                </a:solidFill>
              </a:rPr>
              <a:t>Part 1 (D1)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54787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PSO (1995) vs HHO (2019)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Literature review &amp; synopses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3246120"/>
            <a:ext cx="2651760" cy="1508760"/>
          </a:xfrm>
          <a:prstGeom prst="rect">
            <a:avLst/>
          </a:prstGeom>
          <a:solidFill>
            <a:srgbClr val="162640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3246120"/>
            <a:ext cx="26517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3246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9EF5"/>
                </a:solidFill>
              </a:rPr>
              <a:t>Part 2 (D2)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354787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Empirical test on real BTC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price data (2014–2022)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246120"/>
            <a:ext cx="2651760" cy="1508760"/>
          </a:xfrm>
          <a:prstGeom prst="rect">
            <a:avLst/>
          </a:prstGeom>
          <a:solidFill>
            <a:srgbClr val="162640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246120"/>
            <a:ext cx="26517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246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9EF5"/>
                </a:solidFill>
              </a:rPr>
              <a:t>Added for D2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354787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GWO + Random 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for full structural spectrum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PART 1 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Swarm Optimization (PSO, 1995)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56616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9EF5"/>
                </a:solidFill>
              </a:rPr>
              <a:t>Design motivation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Genetic Algorithms:
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discarded weak individuals — lost knowledge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Gradient methods:
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single solution — trapped in local optima
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PSO solution: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Keep all particles; pull each toward pBest AND gBest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206240" cy="182880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325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F5"/>
                </a:solidFill>
              </a:rPr>
              <a:t>Velocity update (Shi &amp; Eberhart, 1998)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← w·v + c₁·r₁·(pBest − x)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c₂·r₂·(gBest − x)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4871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 = 0.7    c₁ = c₂ = 2.0    population = 30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200400"/>
            <a:ext cx="4206240" cy="160020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291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F5"/>
                </a:solidFill>
              </a:rPr>
              <a:t>Key properties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36118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Attractors: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1 global best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Memory: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velocity (momentum)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Heavy-tail: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none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PART 1 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 Hawks Optimization (HHO, 2019)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017520" cy="1325880"/>
          </a:xfrm>
          <a:prstGeom prst="rect">
            <a:avLst/>
          </a:prstGeom>
          <a:solidFill>
            <a:srgbClr val="2D0D0D"/>
          </a:solidFill>
          <a:ln w="12700">
            <a:solidFill>
              <a:srgbClr val="2D0D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Problem with single-rule swarms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Contract once global best stabilises — cannot escape local optima.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3017520" cy="201168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F5"/>
                </a:solidFill>
              </a:rPr>
              <a:t>Escape energy gate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2·E₀·(1 − t/T)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E₀ ~ U(−1, 1)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|E| ≥ 1 → explore (2 modes)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|E| &lt; 1 → exploit (4 modes)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1234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9EF5"/>
                </a:solidFill>
              </a:rPr>
              <a:t>6 Update Modes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0" y="1600200"/>
            <a:ext cx="2514600" cy="320040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1600200"/>
            <a:ext cx="2514600" cy="292608"/>
          </a:xfrm>
          <a:prstGeom prst="rect">
            <a:avLst/>
          </a:prstGeom>
          <a:solidFill>
            <a:srgbClr val="1C4A7A"/>
          </a:solidFill>
          <a:ln w="12700">
            <a:solidFill>
              <a:srgbClr val="1C4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6002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|E| ≥ 1  EXPLORE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75888" y="1965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1. Perch near random family member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75888" y="267004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2. Perch near swarm mean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2514600" cy="320040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600200"/>
            <a:ext cx="2514600" cy="292608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6002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|E| &lt; 1  EXPLOIT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73368" y="1965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1. Soft besiege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73368" y="267004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2. Hard besiege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73368" y="337413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3. Soft besiege + Lévy dive ⚡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73368" y="407822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4. Hard besiege + Lévy dive ⚡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PART 1 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Summary: PSO vs HHO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347472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9EF5"/>
                          </a:solidFill>
                        </a:rPr>
                        <a:t>PSO (1995)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HHO (2019)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Update rules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CCE8"/>
                          </a:solidFill>
                        </a:rPr>
                        <a:t>1 — velocity update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CFA0"/>
                          </a:solidFill>
                        </a:rPr>
                        <a:t>6 — energy-gated modes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Attractors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CCE8"/>
                          </a:solidFill>
                        </a:rPr>
                        <a:t>1 (global best)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CFA0"/>
                          </a:solidFill>
                        </a:rPr>
                        <a:t>1 (rabbit / best-so-far)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Memory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CCE8"/>
                          </a:solidFill>
                        </a:rPr>
                        <a:t>Velocity (momentum)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CFA0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Heavy-tail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CCE8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CFA0"/>
                          </a:solidFill>
                        </a:rPr>
                        <a:t>Lévy flight dives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Annealing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CCE8"/>
                          </a:solidFill>
                        </a:rPr>
                        <a:t>Fixed inertia weight 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CFA0"/>
                          </a:solidFill>
                        </a:rPr>
                        <a:t>Linearly decaying |E|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D1 prediction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CCE8"/>
                          </a:solidFill>
                        </a:rPr>
                        <a:t>Fast convergence; may overfit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CFA0"/>
                          </a:solidFill>
                        </a:rPr>
                        <a:t>Slower, broader exploration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D1 conclusion: genuinely different structural choices — the comparison is worth running empirically.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BOT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 Building Blocks: SMA, LMA, EMA</a:t>
            </a:r>
            <a:endParaRPr lang="en-US" sz="3000" dirty="0"/>
          </a:p>
        </p:txBody>
      </p:sp>
      <p:pic>
        <p:nvPicPr>
          <p:cNvPr id="5" name="Image 0" descr="/tmp/CITS4404_projectFile/results/figures/03_wma_three_ker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188720"/>
            <a:ext cx="420624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188720"/>
            <a:ext cx="4114800" cy="320040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325880"/>
            <a:ext cx="164592" cy="777240"/>
          </a:xfrm>
          <a:prstGeom prst="rect">
            <a:avLst/>
          </a:prstGeom>
          <a:solidFill>
            <a:srgbClr val="4A9EF5"/>
          </a:solidFill>
          <a:ln w="12700">
            <a:solidFill>
              <a:srgbClr val="4A9E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1325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9EF5"/>
                </a:solidFill>
              </a:rPr>
              <a:t>SMA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13232" y="166420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Flat kernel — equal weights.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Slowest to react, most smoothing.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16459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331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LMA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13232" y="267004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Triangular kernel — linear decay.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Medium responsiveness.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337560"/>
            <a:ext cx="16459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337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</a:rPr>
              <a:t>EMA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13232" y="367588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Geometric decay with factor α.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Fastest response to recent prices.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4114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signal = P * K  (convolution, Eq. 3)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Flip-pad handles edge at t = 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BOT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Hypothesis Spaces: B1 and B2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77640" cy="356616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3977640" cy="320040"/>
          </a:xfrm>
          <a:prstGeom prst="rect">
            <a:avLst/>
          </a:prstGeom>
          <a:solidFill>
            <a:srgbClr val="0F3060"/>
          </a:solidFill>
          <a:ln w="12700">
            <a:solidFill>
              <a:srgbClr val="0F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9EF5"/>
                </a:solidFill>
              </a:rPr>
              <a:t>B1  —  Dual-SMA Crossover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2-dimensional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N₁ , N₂ ] ∈ [2, 300]²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35204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Two SMA windows.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Crossover → buy/sell signal.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Purpose: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"Is optimisation even worth it?"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Baseline reference point.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1188720"/>
            <a:ext cx="4297680" cy="356616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188720"/>
            <a:ext cx="4297680" cy="320040"/>
          </a:xfrm>
          <a:prstGeom prst="rect">
            <a:avLst/>
          </a:prstGeom>
          <a:solidFill>
            <a:srgbClr val="1A3D10"/>
          </a:solidFill>
          <a:ln w="12700">
            <a:solidFill>
              <a:srgbClr val="1A3D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188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B2  —  Compound Mixture  (Eq. 7)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1600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14-dimensional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187452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= (w₁·SMA(d₁) + w₂·LMA(d₂)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w₃·EMA(d₃,α)) / Σwᵢ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60604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Same structure for LOW indicator.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7 params × 2 blocks = 14-D.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Optimiser freely blends SMA/LMA/EMA.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No hard-coded WMA type or window.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ALGORITHM SELECTION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Algorithms — A Structural Spectrum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265176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691640"/>
                <a:gridCol w="1005840"/>
                <a:gridCol w="1097280"/>
                <a:gridCol w="2057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Attractors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Update rule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Memory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Heavy-tail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Random Search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Uniform draw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Single-state baseline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9EF5"/>
                          </a:solidFill>
                        </a:rPr>
                        <a:t>PSO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 (g-best)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Velocity update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Velocity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9EF5"/>
                          </a:solidFill>
                        </a:rPr>
                        <a:t>D1 algorithm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GWO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3 (α/β/δ)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Averaged candidate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Test Camacho claim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CFA0"/>
                          </a:solidFill>
                        </a:rPr>
                        <a:t>HHO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 (rabbit)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6 modes, gated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Lévy dives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CFA0"/>
                          </a:solidFill>
                        </a:rPr>
                        <a:t>D1 algorithm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977640"/>
            <a:ext cx="8412480" cy="411480"/>
          </a:xfrm>
          <a:prstGeom prst="rect">
            <a:avLst/>
          </a:prstGeom>
          <a:solidFill>
            <a:srgbClr val="0D3060"/>
          </a:solidFill>
          <a:ln w="12700">
            <a:solidFill>
              <a:srgbClr val="0D30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9776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Fixed budget: exactly 5,000 fitness evaluations per run — every comparison is apples-to-apples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ALGORITHM SELECTION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Add GWO? The Camacho-Villalon Claim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356616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9EF5"/>
                </a:solidFill>
              </a:rPr>
              <a:t>Grey Wolf Optimizer (2014)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Ranks population each iteration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Top 3 = α, β, δ (leaders)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Each non-leader: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1. Compute 3 candidate positions
   (one per leader)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2. Move to their average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velocity · No Lévy · No gating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Only annealing: a → 2 to 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4297680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⚠  Camacho-Villalon et al. (2023)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600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Int. Trans. Oper. Res., vol. 30, no. 6, pp. 2945–2971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Claim: GWO can be algebraically reduced to an inertia-weight PSO variant. The wolf-hierarchy metaphor is misleading.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Credibility: Dorigo = inventor of Ant Colony Optimization (ACO).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4343400"/>
            <a:ext cx="4297680" cy="411480"/>
          </a:xfrm>
          <a:prstGeom prst="rect">
            <a:avLst/>
          </a:prstGeom>
          <a:solidFill>
            <a:srgbClr val="0D3B1A"/>
          </a:solidFill>
          <a:ln w="12700">
            <a:solidFill>
              <a:srgbClr val="0D3B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4343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Our D2: empirical test of this theoretical claim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— All Hand-Written from Scratch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178308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4160520" cy="27432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Random 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evaluation: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 = uniform(bounds)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evaluate(x)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track best-so-far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60520" cy="178308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188720"/>
            <a:ext cx="4160520" cy="27432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1887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9EF5"/>
                </a:solidFill>
              </a:rPr>
              <a:t>PSO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5087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iteration: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 ← w·v + c₁r₁(pBest−x)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c₂r₂(gBest−x)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 ← clip(x+v, bounds)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108960"/>
            <a:ext cx="4160520" cy="178308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108960"/>
            <a:ext cx="4160520" cy="27432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1089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GWO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4290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iteration: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 → α, β, δ; a: 2→0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wolf: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← avg(Xα_c, Xβ_c, Xδ_c)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4160520" cy="178308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108960"/>
            <a:ext cx="4160520" cy="27432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1089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HHO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4290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hawk: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 = 2·E₀·(1−t/T)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|E|≥1: explore (2 modes)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 exploit (4 modes)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incl. Lévy if strict improve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No scipy.optimize · No mealpy · No pyswarm — all code from scratch  (PDF §3 Rules of Engagement)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EXPERIMENT SETUP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Matrix &amp; Data Split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29200" cy="356616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9EF5"/>
                </a:solidFill>
              </a:rPr>
              <a:t>Experiment Matrix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9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194560" y="18105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algorithms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9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194560" y="251460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bot configurations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12724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9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194560" y="32186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random seeds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83133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40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194560" y="392277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total runs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5262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5,000 FE per run  ·  200,000 backtests total  ·  ~90 sec wall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23560" y="1188720"/>
            <a:ext cx="3246120" cy="356616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2801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9EF5"/>
                </a:solidFill>
              </a:rPr>
              <a:t>Data Split (Kaggle BTC Daily)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06440" y="1691640"/>
            <a:ext cx="2743200" cy="868680"/>
          </a:xfrm>
          <a:prstGeom prst="rect">
            <a:avLst/>
          </a:prstGeom>
          <a:solidFill>
            <a:srgbClr val="0D3060"/>
          </a:solidFill>
          <a:ln w="12700">
            <a:solidFill>
              <a:srgbClr val="0D3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9EF5"/>
                </a:solidFill>
              </a:rPr>
              <a:t>TRAIN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064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Nov 2014 → Dec 2019  (1,860 days)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06440" y="2651760"/>
            <a:ext cx="2743200" cy="868680"/>
          </a:xfrm>
          <a:prstGeom prst="rect">
            <a:avLst/>
          </a:prstGeom>
          <a:solidFill>
            <a:srgbClr val="1A3D10"/>
          </a:solidFill>
          <a:ln w="12700">
            <a:solidFill>
              <a:srgbClr val="1A3D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TEST (HELD-OUT)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0644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Jan 2020 → Mar 2022  (791 days)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365760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Train: bull run 18×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Test: COVID crash, 2021 peaks,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2022 retracement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EXPERIMENT SETUP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Price: Train / Test Split (Log Scale)</a:t>
            </a:r>
            <a:endParaRPr lang="en-US" sz="3000" dirty="0"/>
          </a:p>
        </p:txBody>
      </p:sp>
      <p:pic>
        <p:nvPicPr>
          <p:cNvPr id="5" name="Image 0" descr="/tmp/CITS4404_projectFile/results/figures/01_price_train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786384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Training: 18× price appreciation (bull run)  ·  Test: crash, dual peaks, retracement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TRAINING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Fitness: All Bots Beat Buy-and-Hold</a:t>
            </a:r>
            <a:endParaRPr lang="en-US" sz="3000" dirty="0"/>
          </a:p>
        </p:txBody>
      </p:sp>
      <p:pic>
        <p:nvPicPr>
          <p:cNvPr id="5" name="Image 0" descr="/tmp/CITS4404_projectFile/results/figures/04_train_fitness_box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539496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1188720"/>
            <a:ext cx="2926080" cy="100584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1234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Buy-and-hold (train)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0" y="14813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$17,925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5943600" y="2331720"/>
            <a:ext cx="2926080" cy="1005840"/>
          </a:xfrm>
          <a:prstGeom prst="rect">
            <a:avLst/>
          </a:prstGeom>
          <a:solidFill>
            <a:srgbClr val="0D3060"/>
          </a:solidFill>
          <a:ln w="12700">
            <a:solidFill>
              <a:srgbClr val="0D30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Best training run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26480" y="26243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9EF5"/>
                </a:solidFill>
              </a:rPr>
              <a:t>$77,897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5943600" y="3474720"/>
            <a:ext cx="2926080" cy="1280160"/>
          </a:xfrm>
          <a:prstGeom prst="rect">
            <a:avLst/>
          </a:prstGeom>
          <a:solidFill>
            <a:srgbClr val="0D3B1A"/>
          </a:solidFill>
          <a:ln w="12700">
            <a:solidFill>
              <a:srgbClr val="0D3B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3520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All 40 runs beat buy-and-hold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by 2.3–4.4×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Starting capital: $1,000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TRAINING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GWO ≡ PSO on B1  (p = 1.0)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34290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463040"/>
                <a:gridCol w="1554480"/>
                <a:gridCol w="155448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Bot / Algorithm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Mean ($)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Std ($)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B1 · Random Search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55,484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3,414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50,232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58,776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9EF5"/>
                          </a:solidFill>
                        </a:rPr>
                        <a:t>B1 · PSO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9EF5"/>
                          </a:solidFill>
                        </a:rPr>
                        <a:t>57,219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3,482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50,990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58,776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9EF5"/>
                          </a:solidFill>
                        </a:rPr>
                        <a:t>B1 · GWO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9EF5"/>
                          </a:solidFill>
                        </a:rPr>
                        <a:t>57,219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3,482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50,990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58,776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B1 · HHO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52,383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6,958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41,802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57,212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B2 · Random Search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55,323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3,683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50,714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59,480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9EF5"/>
                          </a:solidFill>
                        </a:rPr>
                        <a:t>B2 · PSO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9EF5"/>
                          </a:solidFill>
                        </a:rPr>
                        <a:t>63,651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12,207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50,046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77,897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B2 · GWO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</a:rPr>
                        <a:t>65,424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6,318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61,840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76,594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B2 · HHO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52,001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4,557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45,418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57,522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★ B1: PSO = GWO (identical, p=1.0)  ·  B2: GWO &gt; RS and HHO (p=0.009)  ·  HHO lowest on both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TRAINING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Convergence: GWO Tracks PSO on B1, Edges Ahead on B2</a:t>
            </a:r>
            <a:endParaRPr lang="en-US" sz="3000" dirty="0"/>
          </a:p>
        </p:txBody>
      </p:sp>
      <p:pic>
        <p:nvPicPr>
          <p:cNvPr id="5" name="Image 0" descr="/tmp/CITS4404_projectFile/results/figures/05_convergence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HHO explores broadly through ~2,000 FEs → less budget for exploitation (explains lower training fitness)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GENERALISATION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40 Bots Underperform Buy-and-Hold on Test</a:t>
            </a:r>
            <a:endParaRPr lang="en-US" sz="3000" dirty="0"/>
          </a:p>
        </p:txBody>
      </p:sp>
      <p:pic>
        <p:nvPicPr>
          <p:cNvPr id="5" name="Image 0" descr="/tmp/CITS4404_projectFile/results/figures/06_train_test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539496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1188720"/>
            <a:ext cx="2926080" cy="1097280"/>
          </a:xfrm>
          <a:prstGeom prst="rect">
            <a:avLst/>
          </a:prstGeom>
          <a:solidFill>
            <a:srgbClr val="1A3D10"/>
          </a:solidFill>
          <a:ln w="12700">
            <a:solidFill>
              <a:srgbClr val="1A3D1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1234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Buy-and-hold (test)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0" y="148132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$5,660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5943600" y="2423160"/>
            <a:ext cx="2926080" cy="109728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2468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Best test run (HHO/B1)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26480" y="271576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$3,623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5943600" y="3657600"/>
            <a:ext cx="2926080" cy="1097280"/>
          </a:xfrm>
          <a:prstGeom prst="rect">
            <a:avLst/>
          </a:prstGeom>
          <a:solidFill>
            <a:srgbClr val="3D0D0D"/>
          </a:solidFill>
          <a:ln w="12700">
            <a:solidFill>
              <a:srgbClr val="3D0D0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3703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Worst test run (PSO/B2)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26480" y="395020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$537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5943600" y="4023360"/>
            <a:ext cx="2926080" cy="685800"/>
          </a:xfrm>
          <a:prstGeom prst="rect">
            <a:avLst/>
          </a:prstGeom>
          <a:solidFill>
            <a:srgbClr val="3D0D0D"/>
          </a:solidFill>
          <a:ln w="12700">
            <a:solidFill>
              <a:srgbClr val="3D0D0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Training champion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= Test loser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GENERALISATION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Champion → Test Failure</a:t>
            </a:r>
            <a:endParaRPr lang="en-US" sz="3000" dirty="0"/>
          </a:p>
        </p:txBody>
      </p:sp>
      <p:pic>
        <p:nvPicPr>
          <p:cNvPr id="5" name="Image 0" descr="/tmp/CITS4404_projectFile/results/figures/09_best_bot_tra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749808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PSO / B2 / seed 4:  $1,000 → $77,897 on train  ·  same parameters → $992 on test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GENERALISATION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HHO's 'Weakness' Becomes Implicit Regularisation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338328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  <a:gridCol w="173736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Bot / Algorithm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Train mean ($)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mean ($)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Gen. gap ($)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B1 · Random Search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55,484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1,637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53,846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9EF5"/>
                          </a:solidFill>
                        </a:rPr>
                        <a:t>B1 · PSO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9EF5"/>
                          </a:solidFill>
                        </a:rPr>
                        <a:t>57,219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1,642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55,576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9EF5"/>
                          </a:solidFill>
                        </a:rPr>
                        <a:t>B1 · GWO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9EF5"/>
                          </a:solidFill>
                        </a:rPr>
                        <a:t>57,219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1,642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55,576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B1 · HHO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52,383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2,240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50,143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B2 · Random Search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55,323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1,144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54,180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9EF5"/>
                          </a:solidFill>
                        </a:rPr>
                        <a:t>B2 · PSO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9EF5"/>
                          </a:solidFill>
                        </a:rPr>
                        <a:t>63,651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836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62,815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9EF5"/>
                          </a:solidFill>
                        </a:rPr>
                        <a:t>B2 · GWO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9EF5"/>
                          </a:solidFill>
                        </a:rPr>
                        <a:t>65,424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895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64,528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B2 · HHO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52,001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1,199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50,802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2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HHO's late-budget re-exploration (D1 'weakness') = implicit regularisation on non-stationary data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BEHAVIOURAL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Optimisers Favour One WMA Filter?</a:t>
            </a:r>
            <a:endParaRPr lang="en-US" sz="3000" dirty="0"/>
          </a:p>
        </p:txBody>
      </p:sp>
      <p:pic>
        <p:nvPicPr>
          <p:cNvPr id="5" name="Image 0" descr="/tmp/CITS4404_projectFile/results/figures/08_b2_weight_sha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539496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1188720"/>
            <a:ext cx="2926080" cy="320040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Answer: All three used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(HHI = 0.37 – 0.52)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26480" y="1920240"/>
            <a:ext cx="25603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 band:
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LMA+EMA dominate (60–84%)
SMA: only 16–24%
→ recency bias rediscovered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Slow band:
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SMA preferred (28–46%)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GWO: EMA collapses to ~10%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"...favour one or draw from all three?" — spec §3  (Answer: all three)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solidFill>
            <a:srgbClr val="1C4273"/>
          </a:solidFill>
          <a:ln w="12700">
            <a:solidFill>
              <a:srgbClr val="1C42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5"/>
                </a:solidFill>
              </a:rPr>
              <a:t>CONCLUSIONS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Take-Aways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160520" cy="178308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307592"/>
            <a:ext cx="475488" cy="475488"/>
          </a:xfrm>
          <a:prstGeom prst="ellipse">
            <a:avLst/>
          </a:prstGeom>
          <a:solidFill>
            <a:srgbClr val="3B9EF5"/>
          </a:solidFill>
          <a:ln w="12700">
            <a:solidFill>
              <a:srgbClr val="3B9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33272" y="1325880"/>
            <a:ext cx="3337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Engineering fairness is non-trivial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81051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 counted-objective framework was the technical lever that made every comparison apples-to-apples under a fixed 5,000 FE budget.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160520" cy="178308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1307592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22392" y="1325880"/>
            <a:ext cx="3337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Camacho-Villalon claim survives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9472" y="181051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GWO and PSO are statistically indistinguishable (p=1.0 on B1, p=0.46 on B2). GWO is an inertia-weight PSO variant — empirically.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90672"/>
            <a:ext cx="4160520" cy="178308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3227832"/>
            <a:ext cx="475488" cy="475488"/>
          </a:xfrm>
          <a:prstGeom prst="ellipse">
            <a:avLst/>
          </a:prstGeom>
          <a:solidFill>
            <a:srgbClr val="3B9EF5"/>
          </a:solidFill>
          <a:ln w="12700">
            <a:solidFill>
              <a:srgbClr val="3B9E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227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33272" y="3246120"/>
            <a:ext cx="3337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Higher dimensionality amplifies gaps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37307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On 2-D B1 all four clustered at the same plateau; on 14-D B2 the gap opened and HHO underperformed the other three.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090672"/>
            <a:ext cx="4160520" cy="178308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322783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227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22392" y="3246120"/>
            <a:ext cx="3337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Over-fitting; exploration = regularisation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9472" y="37307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Most concentrated training search (GWO, PSO) → worst out-of-sample. Algorithm choice changes how you over-fit, not whether.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9EF5"/>
          </a:solidFill>
          <a:ln w="12700">
            <a:solidFill>
              <a:srgbClr val="3B9E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560320" cy="2560320"/>
          </a:xfrm>
          <a:prstGeom prst="ellipse">
            <a:avLst/>
          </a:prstGeom>
          <a:solidFill>
            <a:srgbClr val="0D3B6E">
              <a:alpha val="50000"/>
            </a:srgbClr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1508760"/>
          </a:xfrm>
          <a:prstGeom prst="rect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556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9EF5"/>
                </a:solidFill>
              </a:rPr>
              <a:t>Submission Contents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75688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Code: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notebooks/final_report.ipynb  (pre-executed, all figures embedded)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CITS4404_Team20_Report.pdf  (≤3,000 words, IEEE citations)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Video: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[link to be added before submission]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F5"/>
                </a:solidFill>
              </a:rPr>
              <a:t>Key References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[1] Kennedy &amp; Eberhart, IEEE ICNN, 1995  ·  [2] Shi &amp; Eberhart, IEEE ICEC, 1998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[3] Heidari et al., Future Gener. Comput. Syst., vol. 97, 2019  ·  [4] Mirjalili et al., Adv. Eng. Softw., vol. 69, 2014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[5] Camacho-Villalon et al., Int. Trans. Oper. Res., vol. 30, 2023  ·  [6] Kottarathil, Kaggle BTC Dataset, 2020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Team 20  ·  Qiurong Chen (24558583)  ·  Yanchen Yu (24256987)  ·  CITS4404 2026</a:t>
            </a:r>
            <a:endParaRPr lang="en-US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450799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1">
                <a:solidFill>
                  <a:srgbClr val="6B6B6B"/>
                </a:solidFill>
              </a:rPr>
              <a:t>Narration assisted by text-to-speech; all data, code, and analysis produced by Team 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CITS4404 Deliverable 2 - AI Trading Bots</dc:title>
  <dc:subject>PptxGenJS Presentation</dc:subject>
  <dc:creator>Team 20</dc:creator>
  <cp:lastModifiedBy>Team 20</cp:lastModifiedBy>
  <cp:revision>1</cp:revision>
  <dcterms:created xsi:type="dcterms:W3CDTF">2026-05-16T11:44:02Z</dcterms:created>
  <dcterms:modified xsi:type="dcterms:W3CDTF">2026-05-16T11:44:02Z</dcterms:modified>
</cp:coreProperties>
</file>